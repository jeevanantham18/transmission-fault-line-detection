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75" r:id="rId2"/>
    <p:sldId id="388" r:id="rId3"/>
    <p:sldId id="392" r:id="rId4"/>
    <p:sldId id="393" r:id="rId5"/>
    <p:sldId id="394" r:id="rId6"/>
    <p:sldId id="395" r:id="rId7"/>
    <p:sldId id="396" r:id="rId8"/>
    <p:sldId id="397" r:id="rId9"/>
    <p:sldId id="398" r:id="rId10"/>
    <p:sldId id="399" r:id="rId11"/>
    <p:sldId id="406" r:id="rId12"/>
    <p:sldId id="407" r:id="rId13"/>
    <p:sldId id="408" r:id="rId14"/>
    <p:sldId id="409" r:id="rId15"/>
    <p:sldId id="400" r:id="rId16"/>
    <p:sldId id="401" r:id="rId17"/>
    <p:sldId id="30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8" d="100"/>
          <a:sy n="78" d="100"/>
        </p:scale>
        <p:origin x="18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5/31/2026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31 May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31 May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31 May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31 May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31 May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31 May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31 May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31 May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31 May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31 May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31 May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31 May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2187264"/>
            <a:ext cx="6709143" cy="885409"/>
          </a:xfrm>
        </p:spPr>
        <p:txBody>
          <a:bodyPr>
            <a:normAutofit lnSpcReduction="10000"/>
          </a:bodyPr>
          <a:lstStyle/>
          <a:p>
            <a:r>
              <a:rPr lang="en-US" sz="2800" dirty="0">
                <a:solidFill>
                  <a:schemeClr val="tx1"/>
                </a:solidFill>
                <a:latin typeface="Arial" pitchFamily="34" charset="0"/>
                <a:cs typeface="Arial" pitchFamily="34" charset="0"/>
              </a:rPr>
              <a:t>Fault Identification in Over Head Transmission Line  </a:t>
            </a:r>
            <a:endParaRPr lang="en-US" sz="5700" dirty="0">
              <a:solidFill>
                <a:srgbClr val="7030A0"/>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31 May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437535" y="228600"/>
            <a:ext cx="8610599" cy="1015663"/>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a:t>
            </a:r>
          </a:p>
          <a:p>
            <a:pPr algn="l"/>
            <a:r>
              <a:rPr lang="en-US" sz="2000" b="1" dirty="0">
                <a:solidFill>
                  <a:schemeClr val="tx1"/>
                </a:solidFill>
              </a:rPr>
              <a:t>Jeevanantham 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Introduction</a:t>
            </a:r>
          </a:p>
          <a:p>
            <a:r>
              <a:rPr lang="en-US" dirty="0"/>
              <a:t>Abstract</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p:cNvSpPr>
            <a:spLocks noGrp="1"/>
          </p:cNvSpPr>
          <p:nvPr>
            <p:ph type="ftr" sz="quarter" idx="11"/>
          </p:nvPr>
        </p:nvSpPr>
        <p:spPr/>
        <p:txBody>
          <a:bodyPr/>
          <a:lstStyle/>
          <a:p>
            <a:r>
              <a:rPr lang="en-US" dirty="0"/>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A122-C18C-E74D-01B9-3EB7AC1B8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A1C59-EEDD-94FF-3B5D-70E406F5081B}"/>
              </a:ext>
            </a:extLst>
          </p:cNvPr>
          <p:cNvSpPr>
            <a:spLocks noGrp="1"/>
          </p:cNvSpPr>
          <p:nvPr>
            <p:ph type="title"/>
          </p:nvPr>
        </p:nvSpPr>
        <p:spPr/>
        <p:txBody>
          <a:bodyPr>
            <a:normAutofit/>
          </a:bodyPr>
          <a:lstStyle/>
          <a:p>
            <a:r>
              <a:rPr lang="en-US" sz="3600" dirty="0"/>
              <a:t>INTRODUCTION</a:t>
            </a:r>
          </a:p>
        </p:txBody>
      </p:sp>
      <p:sp>
        <p:nvSpPr>
          <p:cNvPr id="3" name="Content Placeholder 2">
            <a:extLst>
              <a:ext uri="{FF2B5EF4-FFF2-40B4-BE49-F238E27FC236}">
                <a16:creationId xmlns:a16="http://schemas.microsoft.com/office/drawing/2014/main" id="{0C61CF62-78A5-8AFE-FF0F-CB91DD2FF031}"/>
              </a:ext>
            </a:extLst>
          </p:cNvPr>
          <p:cNvSpPr>
            <a:spLocks noGrp="1"/>
          </p:cNvSpPr>
          <p:nvPr>
            <p:ph idx="1"/>
          </p:nvPr>
        </p:nvSpPr>
        <p:spPr>
          <a:xfrm>
            <a:off x="381000" y="1371600"/>
            <a:ext cx="8608292" cy="4871829"/>
          </a:xfrm>
        </p:spPr>
        <p:txBody>
          <a:bodyPr>
            <a:normAutofit/>
          </a:bodyPr>
          <a:lstStyle/>
          <a:p>
            <a:endParaRPr lang="en-US" dirty="0"/>
          </a:p>
          <a:p>
            <a:endParaRPr lang="en-US" dirty="0"/>
          </a:p>
          <a:p>
            <a:endParaRPr lang="en-US" dirty="0"/>
          </a:p>
        </p:txBody>
      </p:sp>
      <p:sp>
        <p:nvSpPr>
          <p:cNvPr id="4" name="Date Placeholder 3">
            <a:extLst>
              <a:ext uri="{FF2B5EF4-FFF2-40B4-BE49-F238E27FC236}">
                <a16:creationId xmlns:a16="http://schemas.microsoft.com/office/drawing/2014/main" id="{ECF5E822-B0A2-05FC-B123-47A1029E34EB}"/>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FC347963-7B16-0BA0-AE81-5EFF1B1052E5}"/>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20F79E4F-D939-60E7-4E18-A31AD691B37A}"/>
              </a:ext>
            </a:extLst>
          </p:cNvPr>
          <p:cNvSpPr>
            <a:spLocks noGrp="1"/>
          </p:cNvSpPr>
          <p:nvPr>
            <p:ph type="sldNum" sz="quarter" idx="12"/>
          </p:nvPr>
        </p:nvSpPr>
        <p:spPr/>
        <p:txBody>
          <a:bodyPr/>
          <a:lstStyle/>
          <a:p>
            <a:fld id="{7B28076C-CE04-4A00-BFAA-A90EA8355859}" type="slidenum">
              <a:rPr lang="en-US" smtClean="0"/>
              <a:pPr/>
              <a:t>3</a:t>
            </a:fld>
            <a:endParaRPr lang="en-US"/>
          </a:p>
        </p:txBody>
      </p:sp>
      <p:sp>
        <p:nvSpPr>
          <p:cNvPr id="10" name="Rectangle 4">
            <a:extLst>
              <a:ext uri="{FF2B5EF4-FFF2-40B4-BE49-F238E27FC236}">
                <a16:creationId xmlns:a16="http://schemas.microsoft.com/office/drawing/2014/main" id="{F7D8F07A-E50C-8E74-8A37-A030B838C207}"/>
              </a:ext>
            </a:extLst>
          </p:cNvPr>
          <p:cNvSpPr>
            <a:spLocks noChangeArrowheads="1"/>
          </p:cNvSpPr>
          <p:nvPr/>
        </p:nvSpPr>
        <p:spPr bwMode="auto">
          <a:xfrm rot="10800000" flipV="1">
            <a:off x="533400" y="3222807"/>
            <a:ext cx="8077200" cy="773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Rectangle 7">
            <a:extLst>
              <a:ext uri="{FF2B5EF4-FFF2-40B4-BE49-F238E27FC236}">
                <a16:creationId xmlns:a16="http://schemas.microsoft.com/office/drawing/2014/main" id="{323203CD-0ECB-C45D-249D-2590C2B3ECAE}"/>
              </a:ext>
            </a:extLst>
          </p:cNvPr>
          <p:cNvSpPr>
            <a:spLocks noChangeArrowheads="1"/>
          </p:cNvSpPr>
          <p:nvPr/>
        </p:nvSpPr>
        <p:spPr bwMode="auto">
          <a:xfrm rot="10800000" flipV="1">
            <a:off x="498988" y="1371600"/>
            <a:ext cx="8229599" cy="486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dirty="0">
                <a:latin typeface="Arial" panose="020B0604020202020204" pitchFamily="34" charset="0"/>
                <a:cs typeface="Arial" panose="020B0604020202020204" pitchFamily="34" charset="0"/>
              </a:rPr>
              <a:t>Overhead transmission lines are essential for </a:t>
            </a:r>
            <a:r>
              <a:rPr lang="en-US" sz="1900" b="1" dirty="0">
                <a:latin typeface="Arial" panose="020B0604020202020204" pitchFamily="34" charset="0"/>
                <a:cs typeface="Arial" panose="020B0604020202020204" pitchFamily="34" charset="0"/>
              </a:rPr>
              <a:t>electrical power distribution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dirty="0">
                <a:latin typeface="Arial" panose="020B0604020202020204" pitchFamily="34" charset="0"/>
                <a:cs typeface="Arial" panose="020B0604020202020204" pitchFamily="34" charset="0"/>
              </a:rPr>
              <a:t>Traditional systems rely on </a:t>
            </a:r>
            <a:r>
              <a:rPr lang="en-US" sz="1900" b="1" dirty="0">
                <a:latin typeface="Arial" panose="020B0604020202020204" pitchFamily="34" charset="0"/>
                <a:cs typeface="Arial" panose="020B0604020202020204" pitchFamily="34" charset="0"/>
              </a:rPr>
              <a:t>manual fault detection</a:t>
            </a:r>
            <a:r>
              <a:rPr lang="en-US" sz="1900" dirty="0">
                <a:latin typeface="Arial" panose="020B0604020202020204" pitchFamily="34" charset="0"/>
                <a:cs typeface="Arial" panose="020B0604020202020204" pitchFamily="34" charset="0"/>
              </a:rPr>
              <a:t> and delayed maintenance</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dirty="0">
                <a:latin typeface="Arial" panose="020B0604020202020204" pitchFamily="34" charset="0"/>
                <a:cs typeface="Arial" panose="020B0604020202020204" pitchFamily="34" charset="0"/>
              </a:rPr>
              <a:t>Faults such as </a:t>
            </a:r>
            <a:r>
              <a:rPr lang="en-US" sz="1900" b="1" dirty="0">
                <a:latin typeface="Arial" panose="020B0604020202020204" pitchFamily="34" charset="0"/>
                <a:cs typeface="Arial" panose="020B0604020202020204" pitchFamily="34" charset="0"/>
              </a:rPr>
              <a:t>phase failure, line breakage, and voltage fluctuations</a:t>
            </a:r>
            <a:r>
              <a:rPr lang="en-US" sz="1900" dirty="0">
                <a:latin typeface="Arial" panose="020B0604020202020204" pitchFamily="34" charset="0"/>
                <a:cs typeface="Arial" panose="020B0604020202020204" pitchFamily="34" charset="0"/>
              </a:rPr>
              <a:t> affect power supply</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dirty="0">
                <a:latin typeface="Arial" panose="020B0604020202020204" pitchFamily="34" charset="0"/>
                <a:cs typeface="Arial" panose="020B0604020202020204" pitchFamily="34" charset="0"/>
              </a:rPr>
              <a:t>Conventional methods cannot provide </a:t>
            </a:r>
            <a:r>
              <a:rPr lang="en-US" sz="1900" b="1" dirty="0">
                <a:latin typeface="Arial" panose="020B0604020202020204" pitchFamily="34" charset="0"/>
                <a:cs typeface="Arial" panose="020B0604020202020204" pitchFamily="34" charset="0"/>
              </a:rPr>
              <a:t>real-time monitoring and instant alerts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dirty="0">
                <a:latin typeface="Arial" panose="020B0604020202020204" pitchFamily="34" charset="0"/>
                <a:cs typeface="Arial" panose="020B0604020202020204" pitchFamily="34" charset="0"/>
              </a:rPr>
              <a:t>The proposed </a:t>
            </a:r>
            <a:r>
              <a:rPr lang="en-US" sz="1900" b="1" dirty="0">
                <a:latin typeface="Arial" panose="020B0604020202020204" pitchFamily="34" charset="0"/>
                <a:cs typeface="Arial" panose="020B0604020202020204" pitchFamily="34" charset="0"/>
              </a:rPr>
              <a:t>IoT-Based Fault Identification System</a:t>
            </a:r>
            <a:r>
              <a:rPr lang="en-US" sz="1900" dirty="0">
                <a:latin typeface="Arial" panose="020B0604020202020204" pitchFamily="34" charset="0"/>
                <a:cs typeface="Arial" panose="020B0604020202020204" pitchFamily="34" charset="0"/>
              </a:rPr>
              <a:t> continuously monitors transmission lines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900" b="1" dirty="0">
                <a:latin typeface="Arial" panose="020B0604020202020204" pitchFamily="34" charset="0"/>
                <a:cs typeface="Arial" panose="020B0604020202020204" pitchFamily="34" charset="0"/>
              </a:rPr>
              <a:t>ESP32 microcontroller</a:t>
            </a:r>
            <a:r>
              <a:rPr lang="en-US" sz="1900" dirty="0">
                <a:latin typeface="Arial" panose="020B0604020202020204" pitchFamily="34" charset="0"/>
                <a:cs typeface="Arial" panose="020B0604020202020204" pitchFamily="34" charset="0"/>
              </a:rPr>
              <a:t> is used for intelligent fault detection and control</a:t>
            </a:r>
          </a:p>
        </p:txBody>
      </p:sp>
    </p:spTree>
    <p:extLst>
      <p:ext uri="{BB962C8B-B14F-4D97-AF65-F5344CB8AC3E}">
        <p14:creationId xmlns:p14="http://schemas.microsoft.com/office/powerpoint/2010/main" val="3199537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7EB8-612D-D1E4-F47F-91BA97100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B119C-621D-BF5D-F5CC-6D67A49AF05C}"/>
              </a:ext>
            </a:extLst>
          </p:cNvPr>
          <p:cNvSpPr>
            <a:spLocks noGrp="1"/>
          </p:cNvSpPr>
          <p:nvPr>
            <p:ph type="title"/>
          </p:nvPr>
        </p:nvSpPr>
        <p:spPr/>
        <p:txBody>
          <a:bodyPr>
            <a:normAutofit/>
          </a:bodyPr>
          <a:lstStyle/>
          <a:p>
            <a:r>
              <a:rPr lang="en-US" sz="3600" dirty="0"/>
              <a:t>ABSTRACT</a:t>
            </a:r>
          </a:p>
        </p:txBody>
      </p:sp>
      <p:sp>
        <p:nvSpPr>
          <p:cNvPr id="3" name="Content Placeholder 2">
            <a:extLst>
              <a:ext uri="{FF2B5EF4-FFF2-40B4-BE49-F238E27FC236}">
                <a16:creationId xmlns:a16="http://schemas.microsoft.com/office/drawing/2014/main" id="{5A34D721-8A2E-0B10-0828-210EE47488E7}"/>
              </a:ext>
            </a:extLst>
          </p:cNvPr>
          <p:cNvSpPr>
            <a:spLocks noGrp="1"/>
          </p:cNvSpPr>
          <p:nvPr>
            <p:ph idx="1"/>
          </p:nvPr>
        </p:nvSpPr>
        <p:spPr>
          <a:xfrm>
            <a:off x="381000" y="1295401"/>
            <a:ext cx="8147540" cy="4267200"/>
          </a:xfrm>
        </p:spPr>
        <p:txBody>
          <a:bodyPr>
            <a:no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This project presents an </a:t>
            </a:r>
            <a:r>
              <a:rPr lang="en-US" sz="1600" b="1" dirty="0">
                <a:latin typeface="Times New Roman" panose="02020603050405020304" pitchFamily="18" charset="0"/>
                <a:cs typeface="Times New Roman" panose="02020603050405020304" pitchFamily="18" charset="0"/>
              </a:rPr>
              <a:t>IoT-based system </a:t>
            </a:r>
            <a:r>
              <a:rPr lang="en-US" sz="1600" dirty="0">
                <a:latin typeface="Times New Roman" panose="02020603050405020304" pitchFamily="18" charset="0"/>
                <a:cs typeface="Times New Roman" panose="02020603050405020304" pitchFamily="18" charset="0"/>
              </a:rPr>
              <a:t>for fault identification in overhead transmission lines using </a:t>
            </a:r>
            <a:r>
              <a:rPr lang="en-US" sz="1600" b="1" dirty="0">
                <a:latin typeface="Times New Roman" panose="02020603050405020304" pitchFamily="18" charset="0"/>
                <a:cs typeface="Times New Roman" panose="02020603050405020304" pitchFamily="18" charset="0"/>
              </a:rPr>
              <a:t>the ESP32 microcontroller</a:t>
            </a:r>
            <a:r>
              <a:rPr lang="en-US" sz="1600" dirty="0">
                <a:latin typeface="Times New Roman" panose="02020603050405020304" pitchFamily="18" charset="0"/>
                <a:cs typeface="Times New Roman" panose="02020603050405020304" pitchFamily="18" charset="0"/>
              </a:rPr>
              <a:t>. The system continuously monitors the three phases—Red (R), Yellow (Y), and Blue (B)—to detect faults such as phase failure, line breakage, and voltage fluctuations in real time. Unlike traditional monitoring methods that depend on </a:t>
            </a:r>
            <a:r>
              <a:rPr lang="en-US" sz="1600" b="1" dirty="0">
                <a:latin typeface="Times New Roman" panose="02020603050405020304" pitchFamily="18" charset="0"/>
                <a:cs typeface="Times New Roman" panose="02020603050405020304" pitchFamily="18" charset="0"/>
              </a:rPr>
              <a:t>manual inspection </a:t>
            </a:r>
            <a:r>
              <a:rPr lang="en-US" sz="1600" dirty="0">
                <a:latin typeface="Times New Roman" panose="02020603050405020304" pitchFamily="18" charset="0"/>
                <a:cs typeface="Times New Roman" panose="02020603050405020304" pitchFamily="18" charset="0"/>
              </a:rPr>
              <a:t>and delayed reporting, the proposed system provides automatic fault detection, protection, and instant alerts</a:t>
            </a:r>
            <a:r>
              <a:rPr lang="en-US" sz="1600" b="1" dirty="0">
                <a:latin typeface="Times New Roman" panose="02020603050405020304" pitchFamily="18" charset="0"/>
                <a:cs typeface="Times New Roman" panose="02020603050405020304" pitchFamily="18" charset="0"/>
              </a:rPr>
              <a:t>. Signal conditioning circuits</a:t>
            </a:r>
            <a:r>
              <a:rPr lang="en-US" sz="1600" dirty="0">
                <a:latin typeface="Times New Roman" panose="02020603050405020304" pitchFamily="18" charset="0"/>
                <a:cs typeface="Times New Roman" panose="02020603050405020304" pitchFamily="18" charset="0"/>
              </a:rPr>
              <a:t> are used to safely convert high-voltage AC signals into low-voltage DC signals suitable for the ESP32 controller. When a fault is detected, the system activates LEDs and a buzzer for local indication and simultaneously disconnects the load using a relay module to improve safety and prevent equipment damage. In addition, IoT integration through the </a:t>
            </a:r>
            <a:r>
              <a:rPr lang="en-US" sz="1600" b="1" dirty="0">
                <a:latin typeface="Times New Roman" panose="02020603050405020304" pitchFamily="18" charset="0"/>
                <a:cs typeface="Times New Roman" panose="02020603050405020304" pitchFamily="18" charset="0"/>
              </a:rPr>
              <a:t>Blynk cloud platform </a:t>
            </a:r>
            <a:r>
              <a:rPr lang="en-US" sz="1600" dirty="0">
                <a:latin typeface="Times New Roman" panose="02020603050405020304" pitchFamily="18" charset="0"/>
                <a:cs typeface="Times New Roman" panose="02020603050405020304" pitchFamily="18" charset="0"/>
              </a:rPr>
              <a:t>enables remote monitoring and instant mobile notifications. The system enhances reliability, reduces downtime, improves operational safety, and supports modern smart grid applications through real-time monitoring and intelligent fault management.</a:t>
            </a:r>
          </a:p>
        </p:txBody>
      </p:sp>
      <p:sp>
        <p:nvSpPr>
          <p:cNvPr id="4" name="Date Placeholder 3">
            <a:extLst>
              <a:ext uri="{FF2B5EF4-FFF2-40B4-BE49-F238E27FC236}">
                <a16:creationId xmlns:a16="http://schemas.microsoft.com/office/drawing/2014/main" id="{71E06511-F6FD-C31D-285A-D54A43F91D03}"/>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93A1B43C-8B19-54BF-55FB-48B9B3C6C8A9}"/>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2690133E-E7AE-7D9A-5AA2-6EB934D1CB66}"/>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409490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1F512-1ADE-6D36-D800-C6D58D4FF2C7}"/>
              </a:ext>
            </a:extLst>
          </p:cNvPr>
          <p:cNvSpPr>
            <a:spLocks noGrp="1"/>
          </p:cNvSpPr>
          <p:nvPr>
            <p:ph type="title"/>
          </p:nvPr>
        </p:nvSpPr>
        <p:spPr/>
        <p:txBody>
          <a:bodyPr/>
          <a:lstStyle/>
          <a:p>
            <a:r>
              <a:rPr lang="en-IN" dirty="0"/>
              <a:t>OBJECTIVE</a:t>
            </a:r>
          </a:p>
        </p:txBody>
      </p:sp>
      <p:sp>
        <p:nvSpPr>
          <p:cNvPr id="4" name="Date Placeholder 3">
            <a:extLst>
              <a:ext uri="{FF2B5EF4-FFF2-40B4-BE49-F238E27FC236}">
                <a16:creationId xmlns:a16="http://schemas.microsoft.com/office/drawing/2014/main" id="{6E1013FD-801A-6501-F3EA-58032A7C68F6}"/>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D2BB2F88-B3AF-31B2-8AD2-DB584FCA8D5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3E2E893D-33B6-9B84-0147-CB884C290D3B}"/>
              </a:ext>
            </a:extLst>
          </p:cNvPr>
          <p:cNvSpPr>
            <a:spLocks noGrp="1"/>
          </p:cNvSpPr>
          <p:nvPr>
            <p:ph type="sldNum" sz="quarter" idx="12"/>
          </p:nvPr>
        </p:nvSpPr>
        <p:spPr/>
        <p:txBody>
          <a:bodyPr/>
          <a:lstStyle/>
          <a:p>
            <a:fld id="{7B28076C-CE04-4A00-BFAA-A90EA8355859}" type="slidenum">
              <a:rPr lang="en-US" smtClean="0"/>
              <a:pPr/>
              <a:t>5</a:t>
            </a:fld>
            <a:endParaRPr lang="en-US"/>
          </a:p>
        </p:txBody>
      </p:sp>
      <p:sp>
        <p:nvSpPr>
          <p:cNvPr id="8" name="Rectangle 2">
            <a:extLst>
              <a:ext uri="{FF2B5EF4-FFF2-40B4-BE49-F238E27FC236}">
                <a16:creationId xmlns:a16="http://schemas.microsoft.com/office/drawing/2014/main" id="{016CEC77-D517-6C47-6F2A-352102BE8193}"/>
              </a:ext>
            </a:extLst>
          </p:cNvPr>
          <p:cNvSpPr>
            <a:spLocks noGrp="1" noChangeArrowheads="1"/>
          </p:cNvSpPr>
          <p:nvPr>
            <p:ph idx="1"/>
          </p:nvPr>
        </p:nvSpPr>
        <p:spPr bwMode="auto">
          <a:xfrm>
            <a:off x="457200" y="1140770"/>
            <a:ext cx="8229600" cy="4928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detect </a:t>
            </a:r>
            <a:r>
              <a:rPr lang="en-US" sz="2000" b="1" dirty="0">
                <a:latin typeface="Arial" panose="020B0604020202020204" pitchFamily="34" charset="0"/>
                <a:cs typeface="Arial" panose="020B0604020202020204" pitchFamily="34" charset="0"/>
              </a:rPr>
              <a:t>faults in overhead transmission lines</a:t>
            </a:r>
            <a:r>
              <a:rPr lang="en-US" sz="2000" dirty="0">
                <a:latin typeface="Arial" panose="020B0604020202020204" pitchFamily="34" charset="0"/>
                <a:cs typeface="Arial" panose="020B0604020202020204" pitchFamily="34" charset="0"/>
              </a:rPr>
              <a:t> in real time</a:t>
            </a: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continuously monitor the </a:t>
            </a:r>
            <a:r>
              <a:rPr lang="en-US" sz="2000" b="1" dirty="0">
                <a:latin typeface="Arial" panose="020B0604020202020204" pitchFamily="34" charset="0"/>
                <a:cs typeface="Arial" panose="020B0604020202020204" pitchFamily="34" charset="0"/>
              </a:rPr>
              <a:t>Red (R), Yellow (Y), and Blue (B) phases</a:t>
            </a: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identify faults such as </a:t>
            </a:r>
            <a:r>
              <a:rPr lang="en-US" sz="2000" b="1" dirty="0">
                <a:latin typeface="Arial" panose="020B0604020202020204" pitchFamily="34" charset="0"/>
                <a:cs typeface="Arial" panose="020B0604020202020204" pitchFamily="34" charset="0"/>
              </a:rPr>
              <a:t>phase failure, line breakage, and voltage fluctuations</a:t>
            </a: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provide </a:t>
            </a:r>
            <a:r>
              <a:rPr lang="en-US" sz="2000" b="1" dirty="0">
                <a:latin typeface="Arial" panose="020B0604020202020204" pitchFamily="34" charset="0"/>
                <a:cs typeface="Arial" panose="020B0604020202020204" pitchFamily="34" charset="0"/>
              </a:rPr>
              <a:t>automatic protection</a:t>
            </a:r>
            <a:r>
              <a:rPr lang="en-US" sz="2000" dirty="0">
                <a:latin typeface="Arial" panose="020B0604020202020204" pitchFamily="34" charset="0"/>
                <a:cs typeface="Arial" panose="020B0604020202020204" pitchFamily="34" charset="0"/>
              </a:rPr>
              <a:t> using relay-based load disconnection</a:t>
            </a: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generate </a:t>
            </a:r>
            <a:r>
              <a:rPr lang="en-US" sz="2000" b="1" dirty="0">
                <a:latin typeface="Arial" panose="020B0604020202020204" pitchFamily="34" charset="0"/>
                <a:cs typeface="Arial" panose="020B0604020202020204" pitchFamily="34" charset="0"/>
              </a:rPr>
              <a:t>instant visual and audible alerts</a:t>
            </a:r>
            <a:r>
              <a:rPr lang="en-US" sz="2000" dirty="0">
                <a:latin typeface="Arial" panose="020B0604020202020204" pitchFamily="34" charset="0"/>
                <a:cs typeface="Arial" panose="020B0604020202020204" pitchFamily="34" charset="0"/>
              </a:rPr>
              <a:t> using LEDs and buzzer</a:t>
            </a:r>
          </a:p>
          <a:p>
            <a:pPr marL="0" lvl="0" indent="0" algn="just" eaLnBrk="0" fontAlgn="base" hangingPunct="0">
              <a:lnSpc>
                <a:spcPct val="150000"/>
              </a:lnSpc>
              <a:spcBef>
                <a:spcPct val="0"/>
              </a:spcBef>
              <a:spcAft>
                <a:spcPct val="0"/>
              </a:spcAft>
              <a:buFontTx/>
              <a:buChar char="•"/>
            </a:pPr>
            <a:r>
              <a:rPr lang="en-US" sz="2000" dirty="0">
                <a:latin typeface="Arial" panose="020B0604020202020204" pitchFamily="34" charset="0"/>
                <a:cs typeface="Arial" panose="020B0604020202020204" pitchFamily="34" charset="0"/>
              </a:rPr>
              <a:t>To improve </a:t>
            </a:r>
            <a:r>
              <a:rPr lang="en-US" sz="2000" b="1" dirty="0">
                <a:latin typeface="Arial" panose="020B0604020202020204" pitchFamily="34" charset="0"/>
                <a:cs typeface="Arial" panose="020B0604020202020204" pitchFamily="34" charset="0"/>
              </a:rPr>
              <a:t>safety, reliability, and efficiency</a:t>
            </a:r>
            <a:r>
              <a:rPr lang="en-US" sz="2000" dirty="0">
                <a:latin typeface="Arial" panose="020B0604020202020204" pitchFamily="34" charset="0"/>
                <a:cs typeface="Arial" panose="020B0604020202020204" pitchFamily="34" charset="0"/>
              </a:rPr>
              <a:t> in power transmission systems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66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BDF2A-0790-0B43-BC45-B3A895FF07D3}"/>
              </a:ext>
            </a:extLst>
          </p:cNvPr>
          <p:cNvSpPr>
            <a:spLocks noGrp="1"/>
          </p:cNvSpPr>
          <p:nvPr>
            <p:ph type="title"/>
          </p:nvPr>
        </p:nvSpPr>
        <p:spPr>
          <a:xfrm>
            <a:off x="298940" y="228600"/>
            <a:ext cx="8540260" cy="1143000"/>
          </a:xfrm>
        </p:spPr>
        <p:txBody>
          <a:bodyPr>
            <a:normAutofit fontScale="90000"/>
          </a:bodyPr>
          <a:lstStyle/>
          <a:p>
            <a:r>
              <a:rPr lang="en-IN" dirty="0"/>
              <a:t>SYSTEM ARCHITECTURE/ IDEATION MAP</a:t>
            </a:r>
          </a:p>
        </p:txBody>
      </p:sp>
      <p:sp>
        <p:nvSpPr>
          <p:cNvPr id="4" name="Date Placeholder 3">
            <a:extLst>
              <a:ext uri="{FF2B5EF4-FFF2-40B4-BE49-F238E27FC236}">
                <a16:creationId xmlns:a16="http://schemas.microsoft.com/office/drawing/2014/main" id="{C4AC87D0-1D63-6C98-9D64-4A475013FD79}"/>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652B173F-016B-D232-DE5C-DB5ED009B395}"/>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EFA4DAB5-5A54-5685-7317-FAE0B32D453C}"/>
              </a:ext>
            </a:extLst>
          </p:cNvPr>
          <p:cNvSpPr>
            <a:spLocks noGrp="1"/>
          </p:cNvSpPr>
          <p:nvPr>
            <p:ph type="sldNum" sz="quarter" idx="12"/>
          </p:nvPr>
        </p:nvSpPr>
        <p:spPr/>
        <p:txBody>
          <a:bodyPr/>
          <a:lstStyle/>
          <a:p>
            <a:fld id="{7B28076C-CE04-4A00-BFAA-A90EA8355859}" type="slidenum">
              <a:rPr lang="en-US" smtClean="0"/>
              <a:pPr/>
              <a:t>6</a:t>
            </a:fld>
            <a:endParaRPr lang="en-US"/>
          </a:p>
        </p:txBody>
      </p:sp>
      <p:pic>
        <p:nvPicPr>
          <p:cNvPr id="13" name="Content Placeholder 12">
            <a:extLst>
              <a:ext uri="{FF2B5EF4-FFF2-40B4-BE49-F238E27FC236}">
                <a16:creationId xmlns:a16="http://schemas.microsoft.com/office/drawing/2014/main" id="{3BCA058C-52BA-B54C-302D-B4716F7FCE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8001000" cy="4525963"/>
          </a:xfrm>
          <a:prstGeom prst="rect">
            <a:avLst/>
          </a:prstGeom>
        </p:spPr>
      </p:pic>
    </p:spTree>
    <p:extLst>
      <p:ext uri="{BB962C8B-B14F-4D97-AF65-F5344CB8AC3E}">
        <p14:creationId xmlns:p14="http://schemas.microsoft.com/office/powerpoint/2010/main" val="331866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8633-6A0E-1A11-C92A-56E3E2910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62EA6-9942-6F0C-E93C-A1C1E33D7717}"/>
              </a:ext>
            </a:extLst>
          </p:cNvPr>
          <p:cNvSpPr>
            <a:spLocks noGrp="1"/>
          </p:cNvSpPr>
          <p:nvPr>
            <p:ph type="title"/>
          </p:nvPr>
        </p:nvSpPr>
        <p:spPr>
          <a:xfrm>
            <a:off x="298940" y="228600"/>
            <a:ext cx="8540260" cy="1143000"/>
          </a:xfrm>
        </p:spPr>
        <p:txBody>
          <a:bodyPr>
            <a:normAutofit fontScale="90000"/>
          </a:bodyPr>
          <a:lstStyle/>
          <a:p>
            <a:r>
              <a:rPr lang="en-IN" dirty="0"/>
              <a:t>SYSTEM ARCHITECTURE/ IDEATION MAP</a:t>
            </a:r>
          </a:p>
        </p:txBody>
      </p:sp>
      <p:sp>
        <p:nvSpPr>
          <p:cNvPr id="4" name="Date Placeholder 3">
            <a:extLst>
              <a:ext uri="{FF2B5EF4-FFF2-40B4-BE49-F238E27FC236}">
                <a16:creationId xmlns:a16="http://schemas.microsoft.com/office/drawing/2014/main" id="{08356BBE-EB91-5FAF-32D2-73B52AAC7790}"/>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28CAAD12-7E32-5A9B-570B-DD3E58B3E3E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F8FBA3B-CDF1-2C76-BB5F-5D0D56BE9DED}"/>
              </a:ext>
            </a:extLst>
          </p:cNvPr>
          <p:cNvSpPr>
            <a:spLocks noGrp="1"/>
          </p:cNvSpPr>
          <p:nvPr>
            <p:ph type="sldNum" sz="quarter" idx="12"/>
          </p:nvPr>
        </p:nvSpPr>
        <p:spPr/>
        <p:txBody>
          <a:bodyPr/>
          <a:lstStyle/>
          <a:p>
            <a:fld id="{7B28076C-CE04-4A00-BFAA-A90EA8355859}" type="slidenum">
              <a:rPr lang="en-US" smtClean="0"/>
              <a:pPr/>
              <a:t>7</a:t>
            </a:fld>
            <a:endParaRPr lang="en-US"/>
          </a:p>
        </p:txBody>
      </p:sp>
      <p:pic>
        <p:nvPicPr>
          <p:cNvPr id="16" name="Content Placeholder 15">
            <a:extLst>
              <a:ext uri="{FF2B5EF4-FFF2-40B4-BE49-F238E27FC236}">
                <a16:creationId xmlns:a16="http://schemas.microsoft.com/office/drawing/2014/main" id="{4BE5A8D9-2FDC-EDEB-5044-C9A04AE4E4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00200"/>
            <a:ext cx="7848600" cy="4525963"/>
          </a:xfrm>
          <a:prstGeom prst="rect">
            <a:avLst/>
          </a:prstGeom>
        </p:spPr>
      </p:pic>
    </p:spTree>
    <p:extLst>
      <p:ext uri="{BB962C8B-B14F-4D97-AF65-F5344CB8AC3E}">
        <p14:creationId xmlns:p14="http://schemas.microsoft.com/office/powerpoint/2010/main" val="4259388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281C-D2F9-C27F-A93D-3B141ADB8237}"/>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AAB5F323-EA5D-48C2-C535-2EA0C8C0C5FF}"/>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1721C31E-B8FF-97B3-7F6D-5248E425109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E8CD6CD-156B-591C-8C1D-22F978684553}"/>
              </a:ext>
            </a:extLst>
          </p:cNvPr>
          <p:cNvSpPr>
            <a:spLocks noGrp="1"/>
          </p:cNvSpPr>
          <p:nvPr>
            <p:ph type="sldNum" sz="quarter" idx="12"/>
          </p:nvPr>
        </p:nvSpPr>
        <p:spPr/>
        <p:txBody>
          <a:bodyPr/>
          <a:lstStyle/>
          <a:p>
            <a:fld id="{7B28076C-CE04-4A00-BFAA-A90EA8355859}" type="slidenum">
              <a:rPr lang="en-US" smtClean="0"/>
              <a:pPr/>
              <a:t>8</a:t>
            </a:fld>
            <a:endParaRPr lang="en-US"/>
          </a:p>
        </p:txBody>
      </p:sp>
      <p:sp>
        <p:nvSpPr>
          <p:cNvPr id="9" name="Rectangle 3">
            <a:extLst>
              <a:ext uri="{FF2B5EF4-FFF2-40B4-BE49-F238E27FC236}">
                <a16:creationId xmlns:a16="http://schemas.microsoft.com/office/drawing/2014/main" id="{70098246-E3CB-0FB3-51AB-5F0268AD37D5}"/>
              </a:ext>
            </a:extLst>
          </p:cNvPr>
          <p:cNvSpPr>
            <a:spLocks noGrp="1" noChangeArrowheads="1"/>
          </p:cNvSpPr>
          <p:nvPr>
            <p:ph idx="1"/>
          </p:nvPr>
        </p:nvSpPr>
        <p:spPr bwMode="auto">
          <a:xfrm>
            <a:off x="417872" y="1615683"/>
            <a:ext cx="8305799" cy="362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mj-lt"/>
              <a:buAutoNum type="arabicPeriod"/>
            </a:pPr>
            <a:r>
              <a:rPr lang="en-IN" sz="2200" b="1" dirty="0">
                <a:latin typeface="Arial" panose="020B0604020202020204" pitchFamily="34" charset="0"/>
                <a:cs typeface="Arial" panose="020B0604020202020204" pitchFamily="34" charset="0"/>
              </a:rPr>
              <a:t>Fault Detection Process:</a:t>
            </a:r>
          </a:p>
          <a:p>
            <a:pPr marL="0" lvl="0" indent="0" eaLnBrk="0" fontAlgn="base" hangingPunct="0">
              <a:spcBef>
                <a:spcPct val="0"/>
              </a:spcBef>
              <a:spcAft>
                <a:spcPct val="0"/>
              </a:spcAft>
              <a:buNone/>
            </a:pPr>
            <a:endPar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Collected input signals from the </a:t>
            </a:r>
            <a:r>
              <a:rPr lang="en-US" sz="1800" b="1" dirty="0">
                <a:latin typeface="Arial" panose="020B0604020202020204" pitchFamily="34" charset="0"/>
                <a:cs typeface="Arial" panose="020B0604020202020204" pitchFamily="34" charset="0"/>
              </a:rPr>
              <a:t>three-phase transmission line</a:t>
            </a:r>
            <a:r>
              <a:rPr lang="en-US" sz="1800" dirty="0">
                <a:latin typeface="Arial" panose="020B0604020202020204" pitchFamily="34" charset="0"/>
                <a:cs typeface="Arial" panose="020B0604020202020204" pitchFamily="34" charset="0"/>
              </a:rPr>
              <a:t> (R, Y, B)</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Used </a:t>
            </a:r>
            <a:r>
              <a:rPr lang="en-US" sz="1800" b="1" dirty="0">
                <a:latin typeface="Arial" panose="020B0604020202020204" pitchFamily="34" charset="0"/>
                <a:cs typeface="Arial" panose="020B0604020202020204" pitchFamily="34" charset="0"/>
              </a:rPr>
              <a:t>step-down transformers</a:t>
            </a:r>
            <a:r>
              <a:rPr lang="en-US" sz="1800" dirty="0">
                <a:latin typeface="Arial" panose="020B0604020202020204" pitchFamily="34" charset="0"/>
                <a:cs typeface="Arial" panose="020B0604020202020204" pitchFamily="34" charset="0"/>
              </a:rPr>
              <a:t> to reduce high AC voltage safely</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Applied </a:t>
            </a:r>
            <a:r>
              <a:rPr lang="en-US" sz="1800" b="1" dirty="0">
                <a:latin typeface="Arial" panose="020B0604020202020204" pitchFamily="34" charset="0"/>
                <a:cs typeface="Arial" panose="020B0604020202020204" pitchFamily="34" charset="0"/>
              </a:rPr>
              <a:t>voltage regulation (3.3V)</a:t>
            </a:r>
            <a:r>
              <a:rPr lang="en-US" sz="1800" dirty="0">
                <a:latin typeface="Arial" panose="020B0604020202020204" pitchFamily="34" charset="0"/>
                <a:cs typeface="Arial" panose="020B0604020202020204" pitchFamily="34" charset="0"/>
              </a:rPr>
              <a:t> for ESP32 compatibility</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Continuously monitored phase conditions through the </a:t>
            </a:r>
            <a:r>
              <a:rPr lang="en-US" sz="1800" b="1" dirty="0">
                <a:latin typeface="Arial" panose="020B0604020202020204" pitchFamily="34" charset="0"/>
                <a:cs typeface="Arial" panose="020B0604020202020204" pitchFamily="34" charset="0"/>
              </a:rPr>
              <a:t>ESP32 controller</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Improved detection accuracy using stable and filtered input signals</a:t>
            </a:r>
            <a:endParaRPr lang="en-US" sz="1800" b="1" dirty="0">
              <a:latin typeface="Arial" panose="020B0604020202020204" pitchFamily="34" charset="0"/>
              <a:cs typeface="Arial" panose="020B0604020202020204" pitchFamily="34" charset="0"/>
            </a:endParaRP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Enabled safe and reliable </a:t>
            </a:r>
            <a:r>
              <a:rPr lang="en-US" sz="1800" b="1" dirty="0">
                <a:latin typeface="Arial" panose="020B0604020202020204" pitchFamily="34" charset="0"/>
                <a:cs typeface="Arial" panose="020B0604020202020204" pitchFamily="34" charset="0"/>
              </a:rPr>
              <a:t>real-time fault monitoring</a:t>
            </a:r>
            <a:r>
              <a:rPr lang="en-US" sz="1800" dirty="0">
                <a:latin typeface="Arial" panose="020B0604020202020204" pitchFamily="34" charset="0"/>
                <a:cs typeface="Arial" panose="020B0604020202020204" pitchFamily="34" charset="0"/>
              </a:rPr>
              <a:t> in the transmission system</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1138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5B1EF-8365-CA82-89F6-7F47E55B0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83367-FFAA-14E6-9DC0-6AB85B957B1C}"/>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33D60486-2C6C-D072-472E-198543CBB9EE}"/>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EFB93A44-3A21-BA7D-33C1-1970A8714A4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8FC4529-98E5-EF7D-BA3C-E479F3FD995B}"/>
              </a:ext>
            </a:extLst>
          </p:cNvPr>
          <p:cNvSpPr>
            <a:spLocks noGrp="1"/>
          </p:cNvSpPr>
          <p:nvPr>
            <p:ph type="sldNum" sz="quarter" idx="12"/>
          </p:nvPr>
        </p:nvSpPr>
        <p:spPr/>
        <p:txBody>
          <a:bodyPr/>
          <a:lstStyle/>
          <a:p>
            <a:fld id="{7B28076C-CE04-4A00-BFAA-A90EA8355859}" type="slidenum">
              <a:rPr lang="en-US" smtClean="0"/>
              <a:pPr/>
              <a:t>9</a:t>
            </a:fld>
            <a:endParaRPr lang="en-US"/>
          </a:p>
        </p:txBody>
      </p:sp>
      <p:sp>
        <p:nvSpPr>
          <p:cNvPr id="9" name="Rectangle 3">
            <a:extLst>
              <a:ext uri="{FF2B5EF4-FFF2-40B4-BE49-F238E27FC236}">
                <a16:creationId xmlns:a16="http://schemas.microsoft.com/office/drawing/2014/main" id="{225D4F0A-4EB2-1A68-0FFC-085665037CA1}"/>
              </a:ext>
            </a:extLst>
          </p:cNvPr>
          <p:cNvSpPr>
            <a:spLocks noGrp="1" noChangeArrowheads="1"/>
          </p:cNvSpPr>
          <p:nvPr>
            <p:ph idx="1"/>
          </p:nvPr>
        </p:nvSpPr>
        <p:spPr bwMode="auto">
          <a:xfrm>
            <a:off x="465195" y="1954327"/>
            <a:ext cx="8305799" cy="354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mj-lt"/>
              <a:buAutoNum type="arabicPeriod" startAt="2"/>
            </a:pPr>
            <a:r>
              <a:rPr lang="en-IN" sz="2200" b="1" dirty="0">
                <a:latin typeface="Arial" panose="020B0604020202020204" pitchFamily="34" charset="0"/>
                <a:cs typeface="Arial" panose="020B0604020202020204" pitchFamily="34" charset="0"/>
              </a:rPr>
              <a:t>Phase Monitoring System:</a:t>
            </a:r>
          </a:p>
          <a:p>
            <a:pPr marL="0" lvl="0" indent="0" eaLnBrk="0" fontAlgn="base" hangingPunct="0">
              <a:spcBef>
                <a:spcPct val="0"/>
              </a:spcBef>
              <a:spcAft>
                <a:spcPct val="0"/>
              </a:spcAft>
              <a:buNone/>
            </a:pPr>
            <a:endPar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a:lnSpc>
                <a:spcPct val="150000"/>
              </a:lnSpc>
            </a:pPr>
            <a:r>
              <a:rPr lang="en-US" sz="1800" dirty="0">
                <a:latin typeface="Arial" panose="020B0604020202020204" pitchFamily="34" charset="0"/>
                <a:cs typeface="Arial" panose="020B0604020202020204" pitchFamily="34" charset="0"/>
              </a:rPr>
              <a:t>Continuously monitors the </a:t>
            </a:r>
            <a:r>
              <a:rPr lang="en-US" sz="1800" b="1" dirty="0">
                <a:latin typeface="Arial" panose="020B0604020202020204" pitchFamily="34" charset="0"/>
                <a:cs typeface="Arial" panose="020B0604020202020204" pitchFamily="34" charset="0"/>
              </a:rPr>
              <a:t>Red (R), Yellow (Y), and Blue (B) phases</a:t>
            </a:r>
          </a:p>
          <a:p>
            <a:pPr>
              <a:lnSpc>
                <a:spcPct val="150000"/>
              </a:lnSpc>
            </a:pPr>
            <a:r>
              <a:rPr lang="en-US" sz="1800" dirty="0">
                <a:latin typeface="Arial" panose="020B0604020202020204" pitchFamily="34" charset="0"/>
                <a:cs typeface="Arial" panose="020B0604020202020204" pitchFamily="34" charset="0"/>
              </a:rPr>
              <a:t>Detects faults such as </a:t>
            </a:r>
            <a:r>
              <a:rPr lang="en-US" sz="1800" b="1" dirty="0">
                <a:latin typeface="Arial" panose="020B0604020202020204" pitchFamily="34" charset="0"/>
                <a:cs typeface="Arial" panose="020B0604020202020204" pitchFamily="34" charset="0"/>
              </a:rPr>
              <a:t>phase failure, line breakage, and voltage drop</a:t>
            </a:r>
          </a:p>
          <a:p>
            <a:pPr>
              <a:lnSpc>
                <a:spcPct val="150000"/>
              </a:lnSpc>
            </a:pPr>
            <a:r>
              <a:rPr lang="en-US" sz="1800" dirty="0">
                <a:latin typeface="Arial" panose="020B0604020202020204" pitchFamily="34" charset="0"/>
                <a:cs typeface="Arial" panose="020B0604020202020204" pitchFamily="34" charset="0"/>
              </a:rPr>
              <a:t>Uses </a:t>
            </a:r>
            <a:r>
              <a:rPr lang="en-US" sz="1800" b="1" dirty="0">
                <a:latin typeface="Arial" panose="020B0604020202020204" pitchFamily="34" charset="0"/>
                <a:cs typeface="Arial" panose="020B0604020202020204" pitchFamily="34" charset="0"/>
              </a:rPr>
              <a:t>ESP32 microcontroller</a:t>
            </a:r>
            <a:r>
              <a:rPr lang="en-US" sz="1800" dirty="0">
                <a:latin typeface="Arial" panose="020B0604020202020204" pitchFamily="34" charset="0"/>
                <a:cs typeface="Arial" panose="020B0604020202020204" pitchFamily="34" charset="0"/>
              </a:rPr>
              <a:t> for real-time monitoring and control</a:t>
            </a:r>
          </a:p>
          <a:p>
            <a:pPr>
              <a:lnSpc>
                <a:spcPct val="150000"/>
              </a:lnSpc>
            </a:pPr>
            <a:r>
              <a:rPr lang="en-US" sz="1800" dirty="0">
                <a:latin typeface="Arial" panose="020B0604020202020204" pitchFamily="34" charset="0"/>
                <a:cs typeface="Arial" panose="020B0604020202020204" pitchFamily="34" charset="0"/>
              </a:rPr>
              <a:t>Reads phase signals through </a:t>
            </a:r>
            <a:r>
              <a:rPr lang="en-US" sz="1800" b="1" dirty="0">
                <a:latin typeface="Arial" panose="020B0604020202020204" pitchFamily="34" charset="0"/>
                <a:cs typeface="Arial" panose="020B0604020202020204" pitchFamily="34" charset="0"/>
              </a:rPr>
              <a:t>GPIO input pins</a:t>
            </a:r>
          </a:p>
          <a:p>
            <a:pPr>
              <a:lnSpc>
                <a:spcPct val="150000"/>
              </a:lnSpc>
            </a:pPr>
            <a:r>
              <a:rPr lang="en-US" sz="1800" dirty="0">
                <a:latin typeface="Arial" panose="020B0604020202020204" pitchFamily="34" charset="0"/>
                <a:cs typeface="Arial" panose="020B0604020202020204" pitchFamily="34" charset="0"/>
              </a:rPr>
              <a:t>Activates </a:t>
            </a:r>
            <a:r>
              <a:rPr lang="en-US" sz="1800" b="1" dirty="0">
                <a:latin typeface="Arial" panose="020B0604020202020204" pitchFamily="34" charset="0"/>
                <a:cs typeface="Arial" panose="020B0604020202020204" pitchFamily="34" charset="0"/>
              </a:rPr>
              <a:t>relay module, LEDs, and buzzer alerts</a:t>
            </a:r>
            <a:r>
              <a:rPr lang="en-US" sz="1800" dirty="0">
                <a:latin typeface="Arial" panose="020B0604020202020204" pitchFamily="34" charset="0"/>
                <a:cs typeface="Arial" panose="020B0604020202020204" pitchFamily="34" charset="0"/>
              </a:rPr>
              <a:t> during fault conditions</a:t>
            </a:r>
          </a:p>
          <a:p>
            <a:pPr>
              <a:lnSpc>
                <a:spcPct val="150000"/>
              </a:lnSpc>
            </a:pPr>
            <a:r>
              <a:rPr lang="en-US" sz="1800" dirty="0">
                <a:latin typeface="Arial" panose="020B0604020202020204" pitchFamily="34" charset="0"/>
                <a:cs typeface="Arial" panose="020B0604020202020204" pitchFamily="34" charset="0"/>
              </a:rPr>
              <a:t>Sends real-time fault information to the </a:t>
            </a:r>
            <a:r>
              <a:rPr lang="en-US" sz="1800" b="1" dirty="0">
                <a:latin typeface="Arial" panose="020B0604020202020204" pitchFamily="34" charset="0"/>
                <a:cs typeface="Arial" panose="020B0604020202020204" pitchFamily="34" charset="0"/>
              </a:rPr>
              <a:t>IoT cloud platform</a:t>
            </a:r>
          </a:p>
        </p:txBody>
      </p:sp>
    </p:spTree>
    <p:extLst>
      <p:ext uri="{BB962C8B-B14F-4D97-AF65-F5344CB8AC3E}">
        <p14:creationId xmlns:p14="http://schemas.microsoft.com/office/powerpoint/2010/main" val="4200002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45287-C8D2-391F-12FB-C77716D21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B6924-C2AE-921B-269E-9FCD9AE6945E}"/>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F1E2DC34-8F4B-B9B9-CB05-3E5A34CD7DD9}"/>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D5E934E5-7BB4-B236-A571-296717B7DB6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3F33AFF-B724-3CBE-95AC-8AF70500C551}"/>
              </a:ext>
            </a:extLst>
          </p:cNvPr>
          <p:cNvSpPr>
            <a:spLocks noGrp="1"/>
          </p:cNvSpPr>
          <p:nvPr>
            <p:ph type="sldNum" sz="quarter" idx="12"/>
          </p:nvPr>
        </p:nvSpPr>
        <p:spPr/>
        <p:txBody>
          <a:bodyPr/>
          <a:lstStyle/>
          <a:p>
            <a:fld id="{7B28076C-CE04-4A00-BFAA-A90EA8355859}" type="slidenum">
              <a:rPr lang="en-US" smtClean="0"/>
              <a:pPr/>
              <a:t>10</a:t>
            </a:fld>
            <a:endParaRPr lang="en-US"/>
          </a:p>
        </p:txBody>
      </p:sp>
      <p:sp>
        <p:nvSpPr>
          <p:cNvPr id="9" name="Rectangle 3">
            <a:extLst>
              <a:ext uri="{FF2B5EF4-FFF2-40B4-BE49-F238E27FC236}">
                <a16:creationId xmlns:a16="http://schemas.microsoft.com/office/drawing/2014/main" id="{BE2C9BB9-6CB1-3953-C34C-6667468A0639}"/>
              </a:ext>
            </a:extLst>
          </p:cNvPr>
          <p:cNvSpPr>
            <a:spLocks noGrp="1" noChangeArrowheads="1"/>
          </p:cNvSpPr>
          <p:nvPr>
            <p:ph idx="1"/>
          </p:nvPr>
        </p:nvSpPr>
        <p:spPr bwMode="auto">
          <a:xfrm>
            <a:off x="457200" y="1734520"/>
            <a:ext cx="830579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mj-lt"/>
              <a:buAutoNum type="arabicPeriod" startAt="3"/>
            </a:pPr>
            <a:r>
              <a:rPr lang="en-IN" sz="2200" b="1" dirty="0">
                <a:latin typeface="Arial" panose="020B0604020202020204" pitchFamily="34" charset="0"/>
                <a:cs typeface="Arial" panose="020B0604020202020204" pitchFamily="34" charset="0"/>
              </a:rPr>
              <a:t>Alert and Protection System:</a:t>
            </a:r>
            <a:endPar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Rectangle 2">
            <a:extLst>
              <a:ext uri="{FF2B5EF4-FFF2-40B4-BE49-F238E27FC236}">
                <a16:creationId xmlns:a16="http://schemas.microsoft.com/office/drawing/2014/main" id="{8B019062-7230-C9A6-A89D-CF022D3B4F86}"/>
              </a:ext>
            </a:extLst>
          </p:cNvPr>
          <p:cNvSpPr>
            <a:spLocks noChangeArrowheads="1"/>
          </p:cNvSpPr>
          <p:nvPr/>
        </p:nvSpPr>
        <p:spPr bwMode="auto">
          <a:xfrm>
            <a:off x="553149" y="1771552"/>
            <a:ext cx="8133651" cy="3642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Detects abnormal conditions in the </a:t>
            </a:r>
            <a:r>
              <a:rPr lang="en-US" b="1" dirty="0">
                <a:latin typeface="Arial" panose="020B0604020202020204" pitchFamily="34" charset="0"/>
                <a:cs typeface="Arial" panose="020B0604020202020204" pitchFamily="34" charset="0"/>
              </a:rPr>
              <a:t>transmission line</a:t>
            </a:r>
            <a:r>
              <a:rPr lang="en-US" dirty="0">
                <a:latin typeface="Arial" panose="020B0604020202020204" pitchFamily="34" charset="0"/>
                <a:cs typeface="Arial" panose="020B0604020202020204" pitchFamily="34" charset="0"/>
              </a:rPr>
              <a:t> instantly</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Activates </a:t>
            </a:r>
            <a:r>
              <a:rPr lang="en-US" b="1" dirty="0">
                <a:latin typeface="Arial" panose="020B0604020202020204" pitchFamily="34" charset="0"/>
                <a:cs typeface="Arial" panose="020B0604020202020204" pitchFamily="34" charset="0"/>
              </a:rPr>
              <a:t>LED indicators</a:t>
            </a:r>
            <a:r>
              <a:rPr lang="en-US" dirty="0">
                <a:latin typeface="Arial" panose="020B0604020202020204" pitchFamily="34" charset="0"/>
                <a:cs typeface="Arial" panose="020B0604020202020204" pitchFamily="34" charset="0"/>
              </a:rPr>
              <a:t> to show the faulty phase</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Generates </a:t>
            </a:r>
            <a:r>
              <a:rPr lang="en-US" b="1" dirty="0">
                <a:latin typeface="Arial" panose="020B0604020202020204" pitchFamily="34" charset="0"/>
                <a:cs typeface="Arial" panose="020B0604020202020204" pitchFamily="34" charset="0"/>
              </a:rPr>
              <a:t>buzzer alerts</a:t>
            </a:r>
            <a:r>
              <a:rPr lang="en-US" dirty="0">
                <a:latin typeface="Arial" panose="020B0604020202020204" pitchFamily="34" charset="0"/>
                <a:cs typeface="Arial" panose="020B0604020202020204" pitchFamily="34" charset="0"/>
              </a:rPr>
              <a:t> for immediate fault notification</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Prevents equipment damage and improves </a:t>
            </a:r>
            <a:r>
              <a:rPr lang="en-US" b="1" dirty="0">
                <a:latin typeface="Arial" panose="020B0604020202020204" pitchFamily="34" charset="0"/>
                <a:cs typeface="Arial" panose="020B0604020202020204" pitchFamily="34" charset="0"/>
              </a:rPr>
              <a:t>system safety</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Uses </a:t>
            </a:r>
            <a:r>
              <a:rPr lang="en-US" b="1" dirty="0">
                <a:latin typeface="Arial" panose="020B0604020202020204" pitchFamily="34" charset="0"/>
                <a:cs typeface="Arial" panose="020B0604020202020204" pitchFamily="34" charset="0"/>
              </a:rPr>
              <a:t>relay module</a:t>
            </a:r>
            <a:r>
              <a:rPr lang="en-US" dirty="0">
                <a:latin typeface="Arial" panose="020B0604020202020204" pitchFamily="34" charset="0"/>
                <a:cs typeface="Arial" panose="020B0604020202020204" pitchFamily="34" charset="0"/>
              </a:rPr>
              <a:t> to disconnect the load automatically</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Enables </a:t>
            </a:r>
            <a:r>
              <a:rPr lang="en-US" b="1" dirty="0">
                <a:latin typeface="Arial" panose="020B0604020202020204" pitchFamily="34" charset="0"/>
                <a:cs typeface="Arial" panose="020B0604020202020204" pitchFamily="34" charset="0"/>
              </a:rPr>
              <a:t>real-time monitoring and remote notifications</a:t>
            </a:r>
            <a:r>
              <a:rPr lang="en-US" dirty="0">
                <a:latin typeface="Arial" panose="020B0604020202020204" pitchFamily="34" charset="0"/>
                <a:cs typeface="Arial" panose="020B0604020202020204" pitchFamily="34" charset="0"/>
              </a:rPr>
              <a:t> through mobile dashboard </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dirty="0">
                <a:latin typeface="Arial" panose="020B0604020202020204" pitchFamily="34" charset="0"/>
                <a:cs typeface="Arial" panose="020B0604020202020204" pitchFamily="34" charset="0"/>
              </a:rPr>
              <a:t>Sends fault status updates to the </a:t>
            </a:r>
            <a:r>
              <a:rPr lang="en-US" b="1" dirty="0">
                <a:latin typeface="Arial" panose="020B0604020202020204" pitchFamily="34" charset="0"/>
                <a:cs typeface="Arial" panose="020B0604020202020204" pitchFamily="34" charset="0"/>
              </a:rPr>
              <a:t>IoT cloud platform</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4220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0E5C-9B8E-011E-1987-478E27B0D7EC}"/>
              </a:ext>
            </a:extLst>
          </p:cNvPr>
          <p:cNvSpPr>
            <a:spLocks noGrp="1"/>
          </p:cNvSpPr>
          <p:nvPr>
            <p:ph type="title"/>
          </p:nvPr>
        </p:nvSpPr>
        <p:spPr/>
        <p:txBody>
          <a:bodyPr/>
          <a:lstStyle/>
          <a:p>
            <a:r>
              <a:rPr lang="en-IN" dirty="0"/>
              <a:t>RESULTS AND DISCUSSIONS</a:t>
            </a:r>
          </a:p>
        </p:txBody>
      </p:sp>
      <p:sp>
        <p:nvSpPr>
          <p:cNvPr id="3" name="Content Placeholder 2">
            <a:extLst>
              <a:ext uri="{FF2B5EF4-FFF2-40B4-BE49-F238E27FC236}">
                <a16:creationId xmlns:a16="http://schemas.microsoft.com/office/drawing/2014/main" id="{823E6E8D-3FEB-81EC-2DCA-CE1D4AA77ADD}"/>
              </a:ext>
            </a:extLst>
          </p:cNvPr>
          <p:cNvSpPr>
            <a:spLocks noGrp="1"/>
          </p:cNvSpPr>
          <p:nvPr>
            <p:ph idx="1"/>
          </p:nvPr>
        </p:nvSpPr>
        <p:spPr/>
        <p:txBody>
          <a:bodyPr>
            <a:normAutofit/>
          </a:bodyPr>
          <a:lstStyle/>
          <a:p>
            <a:r>
              <a:rPr lang="en-IN" sz="2000" dirty="0">
                <a:latin typeface="Arial" panose="020B0604020202020204" pitchFamily="34" charset="0"/>
                <a:cs typeface="Arial" panose="020B0604020202020204" pitchFamily="34" charset="0"/>
              </a:rPr>
              <a:t>COMPLETE SYSTEM SETUP:</a:t>
            </a:r>
            <a:endParaRPr lang="en-IN" sz="1900" dirty="0">
              <a:latin typeface="Arial" panose="020B0604020202020204" pitchFamily="34" charset="0"/>
              <a:cs typeface="Arial" panose="020B0604020202020204" pitchFamily="34" charset="0"/>
            </a:endParaRPr>
          </a:p>
          <a:p>
            <a:endParaRPr lang="en-IN" sz="19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9CAE7DEE-678B-0BD9-F21F-927EF5132F13}"/>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635032C9-6BE1-B325-09D6-F0E8E485B93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328BC52-8335-614C-64DB-79FEDC3D5273}"/>
              </a:ext>
            </a:extLst>
          </p:cNvPr>
          <p:cNvSpPr>
            <a:spLocks noGrp="1"/>
          </p:cNvSpPr>
          <p:nvPr>
            <p:ph type="sldNum" sz="quarter" idx="12"/>
          </p:nvPr>
        </p:nvSpPr>
        <p:spPr/>
        <p:txBody>
          <a:bodyPr/>
          <a:lstStyle/>
          <a:p>
            <a:fld id="{7B28076C-CE04-4A00-BFAA-A90EA8355859}" type="slidenum">
              <a:rPr lang="en-US" smtClean="0"/>
              <a:pPr/>
              <a:t>11</a:t>
            </a:fld>
            <a:endParaRPr lang="en-US"/>
          </a:p>
        </p:txBody>
      </p:sp>
      <p:pic>
        <p:nvPicPr>
          <p:cNvPr id="9" name="Picture 8">
            <a:extLst>
              <a:ext uri="{FF2B5EF4-FFF2-40B4-BE49-F238E27FC236}">
                <a16:creationId xmlns:a16="http://schemas.microsoft.com/office/drawing/2014/main" id="{AA50C29E-3236-852D-9237-3DAA670AF4EF}"/>
              </a:ext>
            </a:extLst>
          </p:cNvPr>
          <p:cNvPicPr>
            <a:picLocks noChangeAspect="1"/>
          </p:cNvPicPr>
          <p:nvPr/>
        </p:nvPicPr>
        <p:blipFill>
          <a:blip r:embed="rId2" cstate="print">
            <a:extLst>
              <a:ext uri="{28A0092B-C50C-407E-A947-70E740481C1C}">
                <a14:useLocalDpi xmlns:a14="http://schemas.microsoft.com/office/drawing/2010/main" val="0"/>
              </a:ext>
            </a:extLst>
          </a:blip>
          <a:srcRect l="10000" t="1990" r="14166" b="1990"/>
          <a:stretch>
            <a:fillRect/>
          </a:stretch>
        </p:blipFill>
        <p:spPr>
          <a:xfrm>
            <a:off x="1066800" y="2057400"/>
            <a:ext cx="7315200" cy="4068764"/>
          </a:xfrm>
          <a:prstGeom prst="rect">
            <a:avLst/>
          </a:prstGeom>
        </p:spPr>
      </p:pic>
    </p:spTree>
    <p:extLst>
      <p:ext uri="{BB962C8B-B14F-4D97-AF65-F5344CB8AC3E}">
        <p14:creationId xmlns:p14="http://schemas.microsoft.com/office/powerpoint/2010/main" val="1734157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D6BC-FA70-B878-48BF-28925624B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760D9-4764-876B-7FB0-B4F488E78D25}"/>
              </a:ext>
            </a:extLst>
          </p:cNvPr>
          <p:cNvSpPr>
            <a:spLocks noGrp="1"/>
          </p:cNvSpPr>
          <p:nvPr>
            <p:ph type="title"/>
          </p:nvPr>
        </p:nvSpPr>
        <p:spPr/>
        <p:txBody>
          <a:bodyPr/>
          <a:lstStyle/>
          <a:p>
            <a:r>
              <a:rPr lang="en-IN" dirty="0"/>
              <a:t>RESULTS AND DISCUSSIONS</a:t>
            </a:r>
          </a:p>
        </p:txBody>
      </p:sp>
      <p:sp>
        <p:nvSpPr>
          <p:cNvPr id="3" name="Content Placeholder 2">
            <a:extLst>
              <a:ext uri="{FF2B5EF4-FFF2-40B4-BE49-F238E27FC236}">
                <a16:creationId xmlns:a16="http://schemas.microsoft.com/office/drawing/2014/main" id="{6BBF33E5-D543-E3AC-91E5-9FEAB1994E34}"/>
              </a:ext>
            </a:extLst>
          </p:cNvPr>
          <p:cNvSpPr>
            <a:spLocks noGrp="1"/>
          </p:cNvSpPr>
          <p:nvPr>
            <p:ph idx="1"/>
          </p:nvPr>
        </p:nvSpPr>
        <p:spPr/>
        <p:txBody>
          <a:bodyPr>
            <a:normAutofit/>
          </a:bodyPr>
          <a:lstStyle/>
          <a:p>
            <a:r>
              <a:rPr lang="en-IN" sz="2000" dirty="0">
                <a:latin typeface="Arial" panose="020B0604020202020204" pitchFamily="34" charset="0"/>
                <a:cs typeface="Arial" panose="020B0604020202020204" pitchFamily="34" charset="0"/>
              </a:rPr>
              <a:t>PROTOTYPE WITH MOBILE MONITORING:</a:t>
            </a:r>
            <a:endParaRPr lang="en-IN" sz="19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BFF4725-4BB6-C437-B612-17B35730208F}"/>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E8EE5F91-B23D-58EA-AB1E-10BA1422782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C1EE547-8072-043E-F242-A114E16E6594}"/>
              </a:ext>
            </a:extLst>
          </p:cNvPr>
          <p:cNvSpPr>
            <a:spLocks noGrp="1"/>
          </p:cNvSpPr>
          <p:nvPr>
            <p:ph type="sldNum" sz="quarter" idx="12"/>
          </p:nvPr>
        </p:nvSpPr>
        <p:spPr/>
        <p:txBody>
          <a:bodyPr/>
          <a:lstStyle/>
          <a:p>
            <a:fld id="{7B28076C-CE04-4A00-BFAA-A90EA8355859}" type="slidenum">
              <a:rPr lang="en-US" smtClean="0"/>
              <a:pPr/>
              <a:t>12</a:t>
            </a:fld>
            <a:endParaRPr lang="en-US"/>
          </a:p>
        </p:txBody>
      </p:sp>
      <p:pic>
        <p:nvPicPr>
          <p:cNvPr id="8" name="Picture 7">
            <a:extLst>
              <a:ext uri="{FF2B5EF4-FFF2-40B4-BE49-F238E27FC236}">
                <a16:creationId xmlns:a16="http://schemas.microsoft.com/office/drawing/2014/main" id="{2A864BD8-EAB9-500A-86F4-67EC02717048}"/>
              </a:ext>
            </a:extLst>
          </p:cNvPr>
          <p:cNvPicPr>
            <a:picLocks noChangeAspect="1"/>
          </p:cNvPicPr>
          <p:nvPr/>
        </p:nvPicPr>
        <p:blipFill>
          <a:blip r:embed="rId2" cstate="print">
            <a:extLst>
              <a:ext uri="{28A0092B-C50C-407E-A947-70E740481C1C}">
                <a14:useLocalDpi xmlns:a14="http://schemas.microsoft.com/office/drawing/2010/main" val="0"/>
              </a:ext>
            </a:extLst>
          </a:blip>
          <a:srcRect t="16070" b="2865"/>
          <a:stretch>
            <a:fillRect/>
          </a:stretch>
        </p:blipFill>
        <p:spPr>
          <a:xfrm>
            <a:off x="838200" y="2209800"/>
            <a:ext cx="7391400" cy="3916363"/>
          </a:xfrm>
          <a:prstGeom prst="rect">
            <a:avLst/>
          </a:prstGeom>
        </p:spPr>
      </p:pic>
    </p:spTree>
    <p:extLst>
      <p:ext uri="{BB962C8B-B14F-4D97-AF65-F5344CB8AC3E}">
        <p14:creationId xmlns:p14="http://schemas.microsoft.com/office/powerpoint/2010/main" val="270658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4362D-AA7E-EFB3-1434-E8EE3EC47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76989-F071-143B-79D6-7078BD089FA2}"/>
              </a:ext>
            </a:extLst>
          </p:cNvPr>
          <p:cNvSpPr>
            <a:spLocks noGrp="1"/>
          </p:cNvSpPr>
          <p:nvPr>
            <p:ph type="title"/>
          </p:nvPr>
        </p:nvSpPr>
        <p:spPr/>
        <p:txBody>
          <a:bodyPr/>
          <a:lstStyle/>
          <a:p>
            <a:r>
              <a:rPr lang="en-IN" dirty="0"/>
              <a:t>RESULTS AND DISCUSSIONS</a:t>
            </a:r>
          </a:p>
        </p:txBody>
      </p:sp>
      <p:sp>
        <p:nvSpPr>
          <p:cNvPr id="3" name="Content Placeholder 2">
            <a:extLst>
              <a:ext uri="{FF2B5EF4-FFF2-40B4-BE49-F238E27FC236}">
                <a16:creationId xmlns:a16="http://schemas.microsoft.com/office/drawing/2014/main" id="{7852B6F6-4D78-B377-87B3-D928EEEAE650}"/>
              </a:ext>
            </a:extLst>
          </p:cNvPr>
          <p:cNvSpPr>
            <a:spLocks noGrp="1"/>
          </p:cNvSpPr>
          <p:nvPr>
            <p:ph idx="1"/>
          </p:nvPr>
        </p:nvSpPr>
        <p:spPr/>
        <p:txBody>
          <a:bodyPr>
            <a:normAutofit/>
          </a:bodyPr>
          <a:lstStyle/>
          <a:p>
            <a:r>
              <a:rPr lang="en-IN" sz="2000" dirty="0">
                <a:latin typeface="Arial" panose="020B0604020202020204" pitchFamily="34" charset="0"/>
                <a:cs typeface="Arial" panose="020B0604020202020204" pitchFamily="34" charset="0"/>
              </a:rPr>
              <a:t>TRANSMISSION LINE CONNECTIONS:</a:t>
            </a:r>
            <a:endParaRPr lang="en-IN" sz="19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C8B422F7-838A-5264-27A2-35AC6E7B94B5}"/>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65F1F53D-2A3E-241D-A7B9-F113BA1811B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2F7CEA6-933C-0B39-0E98-84CEC0FBA84B}"/>
              </a:ext>
            </a:extLst>
          </p:cNvPr>
          <p:cNvSpPr>
            <a:spLocks noGrp="1"/>
          </p:cNvSpPr>
          <p:nvPr>
            <p:ph type="sldNum" sz="quarter" idx="12"/>
          </p:nvPr>
        </p:nvSpPr>
        <p:spPr/>
        <p:txBody>
          <a:bodyPr/>
          <a:lstStyle/>
          <a:p>
            <a:fld id="{7B28076C-CE04-4A00-BFAA-A90EA8355859}" type="slidenum">
              <a:rPr lang="en-US" smtClean="0"/>
              <a:pPr/>
              <a:t>13</a:t>
            </a:fld>
            <a:endParaRPr lang="en-US"/>
          </a:p>
        </p:txBody>
      </p:sp>
      <p:pic>
        <p:nvPicPr>
          <p:cNvPr id="8" name="Picture 7">
            <a:extLst>
              <a:ext uri="{FF2B5EF4-FFF2-40B4-BE49-F238E27FC236}">
                <a16:creationId xmlns:a16="http://schemas.microsoft.com/office/drawing/2014/main" id="{20D85261-05C4-EF17-C985-673E2656AFD9}"/>
              </a:ext>
            </a:extLst>
          </p:cNvPr>
          <p:cNvPicPr>
            <a:picLocks noChangeAspect="1"/>
          </p:cNvPicPr>
          <p:nvPr/>
        </p:nvPicPr>
        <p:blipFill>
          <a:blip r:embed="rId2" cstate="print">
            <a:extLst>
              <a:ext uri="{28A0092B-C50C-407E-A947-70E740481C1C}">
                <a14:useLocalDpi xmlns:a14="http://schemas.microsoft.com/office/drawing/2010/main" val="0"/>
              </a:ext>
            </a:extLst>
          </a:blip>
          <a:srcRect l="21428" t="14354" r="9524" b="10646"/>
          <a:stretch>
            <a:fillRect/>
          </a:stretch>
        </p:blipFill>
        <p:spPr>
          <a:xfrm rot="16200000">
            <a:off x="2821216" y="531584"/>
            <a:ext cx="3577771" cy="6934200"/>
          </a:xfrm>
          <a:prstGeom prst="rect">
            <a:avLst/>
          </a:prstGeom>
        </p:spPr>
      </p:pic>
    </p:spTree>
    <p:extLst>
      <p:ext uri="{BB962C8B-B14F-4D97-AF65-F5344CB8AC3E}">
        <p14:creationId xmlns:p14="http://schemas.microsoft.com/office/powerpoint/2010/main" val="2046725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8758F-EBFE-44A3-4302-5172215A2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42B09-8C11-88B1-DAA3-78EFE4FCF37B}"/>
              </a:ext>
            </a:extLst>
          </p:cNvPr>
          <p:cNvSpPr>
            <a:spLocks noGrp="1"/>
          </p:cNvSpPr>
          <p:nvPr>
            <p:ph type="title"/>
          </p:nvPr>
        </p:nvSpPr>
        <p:spPr/>
        <p:txBody>
          <a:bodyPr/>
          <a:lstStyle/>
          <a:p>
            <a:r>
              <a:rPr lang="en-IN" dirty="0"/>
              <a:t>RESULTS AND DISCUSSIONS</a:t>
            </a:r>
          </a:p>
        </p:txBody>
      </p:sp>
      <p:sp>
        <p:nvSpPr>
          <p:cNvPr id="3" name="Content Placeholder 2">
            <a:extLst>
              <a:ext uri="{FF2B5EF4-FFF2-40B4-BE49-F238E27FC236}">
                <a16:creationId xmlns:a16="http://schemas.microsoft.com/office/drawing/2014/main" id="{12D0DDD2-D91D-8AED-59FF-BB35DAA9F1DB}"/>
              </a:ext>
            </a:extLst>
          </p:cNvPr>
          <p:cNvSpPr>
            <a:spLocks noGrp="1"/>
          </p:cNvSpPr>
          <p:nvPr>
            <p:ph idx="1"/>
          </p:nvPr>
        </p:nvSpPr>
        <p:spPr/>
        <p:txBody>
          <a:bodyPr>
            <a:normAutofit/>
          </a:bodyPr>
          <a:lstStyle/>
          <a:p>
            <a:r>
              <a:rPr lang="en-IN" sz="2000" dirty="0">
                <a:latin typeface="Arial" panose="020B0604020202020204" pitchFamily="34" charset="0"/>
                <a:cs typeface="Arial" panose="020B0604020202020204" pitchFamily="34" charset="0"/>
              </a:rPr>
              <a:t>NORMAL CONDITION OUTPUT:</a:t>
            </a:r>
            <a:endParaRPr lang="en-IN" sz="19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E119E148-B010-4357-25C0-2EC502ABA89A}"/>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18E4251B-A4AE-1A6C-5549-67A0AA9D5677}"/>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E2D9568-5896-23F4-E829-220777FA29B0}"/>
              </a:ext>
            </a:extLst>
          </p:cNvPr>
          <p:cNvSpPr>
            <a:spLocks noGrp="1"/>
          </p:cNvSpPr>
          <p:nvPr>
            <p:ph type="sldNum" sz="quarter" idx="12"/>
          </p:nvPr>
        </p:nvSpPr>
        <p:spPr/>
        <p:txBody>
          <a:bodyPr/>
          <a:lstStyle/>
          <a:p>
            <a:fld id="{7B28076C-CE04-4A00-BFAA-A90EA8355859}" type="slidenum">
              <a:rPr lang="en-US" smtClean="0"/>
              <a:pPr/>
              <a:t>14</a:t>
            </a:fld>
            <a:endParaRPr lang="en-US"/>
          </a:p>
        </p:txBody>
      </p:sp>
      <p:pic>
        <p:nvPicPr>
          <p:cNvPr id="8" name="Picture 7">
            <a:extLst>
              <a:ext uri="{FF2B5EF4-FFF2-40B4-BE49-F238E27FC236}">
                <a16:creationId xmlns:a16="http://schemas.microsoft.com/office/drawing/2014/main" id="{1CE1CCDA-CB82-D405-5D6E-47B2D892093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14400" y="2133600"/>
            <a:ext cx="7614140" cy="4114800"/>
          </a:xfrm>
          <a:prstGeom prst="rect">
            <a:avLst/>
          </a:prstGeom>
        </p:spPr>
      </p:pic>
    </p:spTree>
    <p:extLst>
      <p:ext uri="{BB962C8B-B14F-4D97-AF65-F5344CB8AC3E}">
        <p14:creationId xmlns:p14="http://schemas.microsoft.com/office/powerpoint/2010/main" val="2060605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32C2-9161-3767-4AE6-94CD369EF463}"/>
              </a:ext>
            </a:extLst>
          </p:cNvPr>
          <p:cNvSpPr>
            <a:spLocks noGrp="1"/>
          </p:cNvSpPr>
          <p:nvPr>
            <p:ph type="title"/>
          </p:nvPr>
        </p:nvSpPr>
        <p:spPr/>
        <p:txBody>
          <a:bodyPr/>
          <a:lstStyle/>
          <a:p>
            <a:r>
              <a:rPr lang="en-IN" dirty="0"/>
              <a:t>RESULTS AND DISCUSSIONS</a:t>
            </a:r>
          </a:p>
        </p:txBody>
      </p:sp>
      <p:pic>
        <p:nvPicPr>
          <p:cNvPr id="8" name="Content Placeholder 7">
            <a:extLst>
              <a:ext uri="{FF2B5EF4-FFF2-40B4-BE49-F238E27FC236}">
                <a16:creationId xmlns:a16="http://schemas.microsoft.com/office/drawing/2014/main" id="{60F24961-2A1D-75A8-3E9F-63852442DBA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38934" y="2362200"/>
            <a:ext cx="7772400" cy="3504616"/>
          </a:xfrm>
          <a:prstGeom prst="rect">
            <a:avLst/>
          </a:prstGeom>
        </p:spPr>
      </p:pic>
      <p:sp>
        <p:nvSpPr>
          <p:cNvPr id="4" name="Date Placeholder 3">
            <a:extLst>
              <a:ext uri="{FF2B5EF4-FFF2-40B4-BE49-F238E27FC236}">
                <a16:creationId xmlns:a16="http://schemas.microsoft.com/office/drawing/2014/main" id="{9A34C30D-4704-A8CA-69E1-D35C02EBB5F7}"/>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124CC562-EB4C-3055-771B-A36D5251A168}"/>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B6A63AE-051D-41EB-56FF-B4B59AE5697E}"/>
              </a:ext>
            </a:extLst>
          </p:cNvPr>
          <p:cNvSpPr>
            <a:spLocks noGrp="1"/>
          </p:cNvSpPr>
          <p:nvPr>
            <p:ph type="sldNum" sz="quarter" idx="12"/>
          </p:nvPr>
        </p:nvSpPr>
        <p:spPr/>
        <p:txBody>
          <a:bodyPr/>
          <a:lstStyle/>
          <a:p>
            <a:fld id="{7B28076C-CE04-4A00-BFAA-A90EA8355859}" type="slidenum">
              <a:rPr lang="en-US" smtClean="0"/>
              <a:pPr/>
              <a:t>15</a:t>
            </a:fld>
            <a:endParaRPr lang="en-US"/>
          </a:p>
        </p:txBody>
      </p:sp>
      <p:sp>
        <p:nvSpPr>
          <p:cNvPr id="9" name="TextBox 8">
            <a:extLst>
              <a:ext uri="{FF2B5EF4-FFF2-40B4-BE49-F238E27FC236}">
                <a16:creationId xmlns:a16="http://schemas.microsoft.com/office/drawing/2014/main" id="{1DEECE35-BD40-BBD7-9D5A-C3B5138435C9}"/>
              </a:ext>
            </a:extLst>
          </p:cNvPr>
          <p:cNvSpPr txBox="1"/>
          <p:nvPr/>
        </p:nvSpPr>
        <p:spPr>
          <a:xfrm>
            <a:off x="679406" y="1858241"/>
            <a:ext cx="3292504" cy="369332"/>
          </a:xfrm>
          <a:prstGeom prst="rect">
            <a:avLst/>
          </a:prstGeom>
          <a:noFill/>
        </p:spPr>
        <p:txBody>
          <a:bodyPr wrap="none" rtlCol="0">
            <a:spAutoFit/>
          </a:bodyPr>
          <a:lstStyle/>
          <a:p>
            <a:r>
              <a:rPr lang="en-IN" dirty="0">
                <a:latin typeface="Arial" panose="020B0604020202020204" pitchFamily="34" charset="0"/>
                <a:cs typeface="Arial" panose="020B0604020202020204" pitchFamily="34" charset="0"/>
              </a:rPr>
              <a:t>FAULT DETECTION OUTPUT</a:t>
            </a:r>
          </a:p>
        </p:txBody>
      </p:sp>
    </p:spTree>
    <p:extLst>
      <p:ext uri="{BB962C8B-B14F-4D97-AF65-F5344CB8AC3E}">
        <p14:creationId xmlns:p14="http://schemas.microsoft.com/office/powerpoint/2010/main" val="2102134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AC06-C21A-D5C3-D726-8D2208FF0291}"/>
              </a:ext>
            </a:extLst>
          </p:cNvPr>
          <p:cNvSpPr>
            <a:spLocks noGrp="1"/>
          </p:cNvSpPr>
          <p:nvPr>
            <p:ph type="title"/>
          </p:nvPr>
        </p:nvSpPr>
        <p:spPr/>
        <p:txBody>
          <a:bodyPr/>
          <a:lstStyle/>
          <a:p>
            <a:r>
              <a:rPr lang="en-IN" dirty="0"/>
              <a:t>CONCLUSION</a:t>
            </a:r>
          </a:p>
        </p:txBody>
      </p:sp>
      <p:sp>
        <p:nvSpPr>
          <p:cNvPr id="4" name="Date Placeholder 3">
            <a:extLst>
              <a:ext uri="{FF2B5EF4-FFF2-40B4-BE49-F238E27FC236}">
                <a16:creationId xmlns:a16="http://schemas.microsoft.com/office/drawing/2014/main" id="{2E6A0CC6-08CA-8FC8-BD4C-3C4E0B976B1E}"/>
              </a:ext>
            </a:extLst>
          </p:cNvPr>
          <p:cNvSpPr>
            <a:spLocks noGrp="1"/>
          </p:cNvSpPr>
          <p:nvPr>
            <p:ph type="dt" sz="half" idx="10"/>
          </p:nvPr>
        </p:nvSpPr>
        <p:spPr/>
        <p:txBody>
          <a:bodyPr/>
          <a:lstStyle/>
          <a:p>
            <a:fld id="{EB7275DB-6D13-480B-AC77-F5019BDC5287}" type="datetime3">
              <a:rPr lang="en-US" smtClean="0"/>
              <a:t>31 May 2026</a:t>
            </a:fld>
            <a:endParaRPr lang="en-US"/>
          </a:p>
        </p:txBody>
      </p:sp>
      <p:sp>
        <p:nvSpPr>
          <p:cNvPr id="5" name="Footer Placeholder 4">
            <a:extLst>
              <a:ext uri="{FF2B5EF4-FFF2-40B4-BE49-F238E27FC236}">
                <a16:creationId xmlns:a16="http://schemas.microsoft.com/office/drawing/2014/main" id="{B9814D5C-BF24-BC8F-7FF5-A18B6BF4595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60B26F1-8611-DB42-DC33-1658F5896AB5}"/>
              </a:ext>
            </a:extLst>
          </p:cNvPr>
          <p:cNvSpPr>
            <a:spLocks noGrp="1"/>
          </p:cNvSpPr>
          <p:nvPr>
            <p:ph type="sldNum" sz="quarter" idx="12"/>
          </p:nvPr>
        </p:nvSpPr>
        <p:spPr/>
        <p:txBody>
          <a:bodyPr/>
          <a:lstStyle/>
          <a:p>
            <a:fld id="{7B28076C-CE04-4A00-BFAA-A90EA8355859}" type="slidenum">
              <a:rPr lang="en-US" smtClean="0"/>
              <a:pPr/>
              <a:t>16</a:t>
            </a:fld>
            <a:endParaRPr lang="en-US"/>
          </a:p>
        </p:txBody>
      </p:sp>
      <p:sp>
        <p:nvSpPr>
          <p:cNvPr id="7" name="Rectangle 1">
            <a:extLst>
              <a:ext uri="{FF2B5EF4-FFF2-40B4-BE49-F238E27FC236}">
                <a16:creationId xmlns:a16="http://schemas.microsoft.com/office/drawing/2014/main" id="{15B7AE63-76B9-7001-88DE-58CD03C00D10}"/>
              </a:ext>
            </a:extLst>
          </p:cNvPr>
          <p:cNvSpPr>
            <a:spLocks noGrp="1" noChangeArrowheads="1"/>
          </p:cNvSpPr>
          <p:nvPr>
            <p:ph idx="1"/>
          </p:nvPr>
        </p:nvSpPr>
        <p:spPr bwMode="auto">
          <a:xfrm>
            <a:off x="457200" y="1076773"/>
            <a:ext cx="8387860" cy="531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Developed an </a:t>
            </a:r>
            <a:r>
              <a:rPr lang="en-US" sz="1800" b="1" dirty="0">
                <a:latin typeface="Arial" panose="020B0604020202020204" pitchFamily="34" charset="0"/>
                <a:cs typeface="Arial" panose="020B0604020202020204" pitchFamily="34" charset="0"/>
              </a:rPr>
              <a:t>IoT-based fault identification system </a:t>
            </a:r>
            <a:r>
              <a:rPr lang="en-US" sz="1800" dirty="0">
                <a:latin typeface="Arial" panose="020B0604020202020204" pitchFamily="34" charset="0"/>
                <a:cs typeface="Arial" panose="020B0604020202020204" pitchFamily="34" charset="0"/>
              </a:rPr>
              <a:t>for overhead transmission lines using </a:t>
            </a:r>
            <a:r>
              <a:rPr lang="en-US" sz="1800" b="1" dirty="0">
                <a:latin typeface="Arial" panose="020B0604020202020204" pitchFamily="34" charset="0"/>
                <a:cs typeface="Arial" panose="020B0604020202020204" pitchFamily="34" charset="0"/>
              </a:rPr>
              <a:t>ESP32</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Successfully detected phase faults in Red (R), Yellow (Y), and Blue (B) transmission lines in </a:t>
            </a:r>
            <a:r>
              <a:rPr lang="en-US" sz="1800" b="1" dirty="0">
                <a:latin typeface="Arial" panose="020B0604020202020204" pitchFamily="34" charset="0"/>
                <a:cs typeface="Arial" panose="020B0604020202020204" pitchFamily="34" charset="0"/>
              </a:rPr>
              <a:t>real time</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System provided fast fault response with automatic </a:t>
            </a:r>
            <a:r>
              <a:rPr lang="en-US" sz="1800" b="1" dirty="0">
                <a:latin typeface="Arial" panose="020B0604020202020204" pitchFamily="34" charset="0"/>
                <a:cs typeface="Arial" panose="020B0604020202020204" pitchFamily="34" charset="0"/>
              </a:rPr>
              <a:t>relay protection </a:t>
            </a:r>
            <a:r>
              <a:rPr lang="en-US" sz="1800" dirty="0">
                <a:latin typeface="Arial" panose="020B0604020202020204" pitchFamily="34" charset="0"/>
                <a:cs typeface="Arial" panose="020B0604020202020204" pitchFamily="34" charset="0"/>
              </a:rPr>
              <a:t>and alert generation</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IoT integration enabled </a:t>
            </a:r>
            <a:r>
              <a:rPr lang="en-US" sz="1800" b="1" dirty="0">
                <a:latin typeface="Arial" panose="020B0604020202020204" pitchFamily="34" charset="0"/>
                <a:cs typeface="Arial" panose="020B0604020202020204" pitchFamily="34" charset="0"/>
              </a:rPr>
              <a:t>remote monitoring </a:t>
            </a:r>
            <a:r>
              <a:rPr lang="en-US" sz="1800" dirty="0">
                <a:latin typeface="Arial" panose="020B0604020202020204" pitchFamily="34" charset="0"/>
                <a:cs typeface="Arial" panose="020B0604020202020204" pitchFamily="34" charset="0"/>
              </a:rPr>
              <a:t>and instant fault notifications through </a:t>
            </a:r>
            <a:r>
              <a:rPr lang="en-US" sz="1800" b="1" dirty="0">
                <a:latin typeface="Arial" panose="020B0604020202020204" pitchFamily="34" charset="0"/>
                <a:cs typeface="Arial" panose="020B0604020202020204" pitchFamily="34" charset="0"/>
              </a:rPr>
              <a:t>mobile dashboard</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Implemented visual and audible indications using </a:t>
            </a:r>
            <a:r>
              <a:rPr lang="en-US" sz="1800" b="1" dirty="0">
                <a:latin typeface="Arial" panose="020B0604020202020204" pitchFamily="34" charset="0"/>
                <a:cs typeface="Arial" panose="020B0604020202020204" pitchFamily="34" charset="0"/>
              </a:rPr>
              <a:t>LEDs and buzzer</a:t>
            </a:r>
            <a:r>
              <a:rPr lang="en-US" sz="1800" dirty="0">
                <a:latin typeface="Arial" panose="020B0604020202020204" pitchFamily="34" charset="0"/>
                <a:cs typeface="Arial" panose="020B0604020202020204" pitchFamily="34" charset="0"/>
              </a:rPr>
              <a:t> for effective </a:t>
            </a:r>
            <a:r>
              <a:rPr lang="en-US" sz="1800" b="1" dirty="0">
                <a:latin typeface="Arial" panose="020B0604020202020204" pitchFamily="34" charset="0"/>
                <a:cs typeface="Arial" panose="020B0604020202020204" pitchFamily="34" charset="0"/>
              </a:rPr>
              <a:t>fault identification</a:t>
            </a:r>
          </a:p>
          <a:p>
            <a:pPr algn="just" eaLnBrk="0" fontAlgn="base" hangingPunct="0">
              <a:lnSpc>
                <a:spcPct val="150000"/>
              </a:lnSpc>
              <a:spcBef>
                <a:spcPct val="0"/>
              </a:spcBef>
              <a:spcAft>
                <a:spcPct val="0"/>
              </a:spcAft>
            </a:pPr>
            <a:r>
              <a:rPr lang="en-US" sz="1800" dirty="0">
                <a:latin typeface="Arial" panose="020B0604020202020204" pitchFamily="34" charset="0"/>
                <a:cs typeface="Arial" panose="020B0604020202020204" pitchFamily="34" charset="0"/>
              </a:rPr>
              <a:t>Demonstrates </a:t>
            </a:r>
            <a:r>
              <a:rPr lang="en-US" sz="1800" b="1" dirty="0">
                <a:latin typeface="Arial" panose="020B0604020202020204" pitchFamily="34" charset="0"/>
                <a:cs typeface="Arial" panose="020B0604020202020204" pitchFamily="34" charset="0"/>
              </a:rPr>
              <a:t>improved safety</a:t>
            </a:r>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reduced downtime</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enhanced reliability</a:t>
            </a:r>
            <a:r>
              <a:rPr lang="en-US" sz="1800" dirty="0">
                <a:latin typeface="Arial" panose="020B0604020202020204" pitchFamily="34" charset="0"/>
                <a:cs typeface="Arial" panose="020B0604020202020204" pitchFamily="34" charset="0"/>
              </a:rPr>
              <a:t> in </a:t>
            </a:r>
            <a:r>
              <a:rPr lang="en-US" sz="1800" b="1" dirty="0">
                <a:latin typeface="Arial" panose="020B0604020202020204" pitchFamily="34" charset="0"/>
                <a:cs typeface="Arial" panose="020B0604020202020204" pitchFamily="34" charset="0"/>
              </a:rPr>
              <a:t>smart power monitoring systems</a:t>
            </a:r>
            <a:endPar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03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31 May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17</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6552</TotalTime>
  <Words>842</Words>
  <Application>Microsoft Office PowerPoint</Application>
  <PresentationFormat>On-screen Show (4:3)</PresentationFormat>
  <Paragraphs>137</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Custom Design</vt:lpstr>
      <vt:lpstr>  </vt:lpstr>
      <vt:lpstr>AGENDA</vt:lpstr>
      <vt:lpstr>INTRODUCTION</vt:lpstr>
      <vt:lpstr>ABSTRACT</vt:lpstr>
      <vt:lpstr>OBJECTIVE</vt:lpstr>
      <vt:lpstr>SYSTEM ARCHITECTURE/ IDEATION MAP</vt:lpstr>
      <vt:lpstr>SYSTEM ARCHITECTURE/ IDEATION MAP</vt:lpstr>
      <vt:lpstr>MODULE IMPLEMENTATION</vt:lpstr>
      <vt:lpstr>MODULE IMPLEMENTATION</vt:lpstr>
      <vt:lpstr>MODULE IMPLEMENTATION</vt:lpstr>
      <vt:lpstr>RESULTS AND DISCUSSIONS</vt:lpstr>
      <vt:lpstr>RESULTS AND DISCUSSIONS</vt:lpstr>
      <vt:lpstr>RESULTS AND DISCUSSIONS</vt:lpstr>
      <vt:lpstr>RESULTS AND DISCUSSIONS</vt:lpstr>
      <vt:lpstr>RESULTS AND DISCUSSIONS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Jeevanantham S</cp:lastModifiedBy>
  <cp:revision>130</cp:revision>
  <dcterms:created xsi:type="dcterms:W3CDTF">2019-11-06T07:48:53Z</dcterms:created>
  <dcterms:modified xsi:type="dcterms:W3CDTF">2026-05-31T07:19:05Z</dcterms:modified>
</cp:coreProperties>
</file>